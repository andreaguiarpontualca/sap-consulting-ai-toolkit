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Neste módulo vamos acompanhar um único cenário SAP PM do início ao fim. Em vez de demonstrações isoladas, vamos usar a mesma demanda para mostrar e-mail, apontamento, chamado, especificação funcional, testes e revisão.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ideia é mostrar produtividade real. O foco não é ensinar uma nova funcionalidade da ferramenta, mas demonstrar como usar o método que construímos nos módulos anteriores dentro do ciclo de uma demanda SAP.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Começamos com uma necessidade plausível, mas incompleta. O objetivo é mostrar que a IA não deve pular diretamente para a especificação. Primeiro precisamos descobrir o que falta.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prepara a turma para a ideia de transformação de informação: um mesmo requisito alimenta diferentes entregáveis, cada um com um prompt e padrão específicos.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diferença entre “melhore este e-mail” e um prompt com regras claras. O principal ganho aqui não é só redação; é preservar datas, compromissos e nível de certeza.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um excelente exemplo para mostrar como a IA pode facilmente exagerar. O prompt precisa ser factual e impedir que a ferramenta amplifique artificialmente esforço ou complexidade.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reforçamos rastreabilidade. O chamado deve mostrar o que foi observado, o que foi analisado e o que ainda não sabemos. A IA ajuda a estruturar, mas não deve declarar causa raiz sem evidência.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IA pode ser usada para melhorar o levantamento. Em muitos casos, o melhor primeiro resultado não é um documento, mas uma lista de perguntas que precisamos responder antes de documentar.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o cenário está muito mais completo. Ainda pode haver pendências, mas já existe material suficiente para uma primeira versão de especificação funcional controlada.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Neste ponto podemos demonstrar o prompt de geração da EF e o exemplo Word já produzido no treinamento. O foco é mostrar que a IA usa o template como estrutura, não cria um documento completamente diferente.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slide reforça o que o documento deve conter e, principalmente, o que não deve conter. A customização técnica só deve ser preenchida quando houver informações confirmadas.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a turma faça uma revisão crítica do exemplo. O objetivo é mudar o comportamento: não aceitar a primeira resposta como final, mas tratá-la como artefato a ser validado.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programação. O objetivo é mostrar que IA pode ajudar a estruturar a especificação técnica, mas as decisões de arquitetura e implementação continuam com o responsável técnico.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 terceiro caso para provocar a turma. Só podemos afirmar o comportamento para outro tipo de ordem se o requisito tiver delimitado claramente o escopo.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Rastreabilidade é um dos usos mais úteis e menos óbvios da IA. Ela pode revisar a relação entre requisitos e testes e apontar lacunas de cobertura.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a IA pode ser excelente para brainstorming de testes negativos, mas o consultor deve filtrar com base em requisito, risco e escopo.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teste integrado amplia o horizonte. A IA pode ajudar a estruturar a jornada ponta a ponta e apontar dependências, mas precisa receber o fluxo e o escopo corretos.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podemos pedir à IA um roteiro de teste integrado com pré-condições, etapas, documentos envolvidos e resultado esperado para cada passo.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slide abre uma visão mais madura: usar IA não só para produzir mais conteúdo, mas para encontrar lacunas e inconsistências em conteúdo já produzido.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Isso é muito útil em projetos longos. Em vez de reler documentos inteiros, a IA pode resumir somente mudanças funcionais, desde que receba as duas versões corretas.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caso mostra que IA também ajuda antes da reunião, organizando contexto e identificando perguntas que precisam ser respondidas pelo cliente ou pelo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Voltamos ao conceito do módulo 1. O valor está em reaproveitar informação de forma consistente, não em reescrever tudo manualmente para cada canal.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esse slide para recapitular os módulos 1 e 3. O problema raramente é “a IA é ruim”; muitas vezes o pedido está mal definido.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de consolidação do módulo. O consultor aparece várias vezes no fluxo: antes, durante e depois da geração. Isso é intencional.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exercício central. Idealmente os participantes trabalham em duplas ou pequenos grupos, usando o material de apoio e os prompts padronizados.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desafio mostra o valor da rastreabilidade. Uma nova exceção não muda apenas uma frase: ela impacta regra, definição, especificação e testes.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pode ficar como referência do instrutor. O material ideal deve estar disponível em uma pasta local ou repositório Git antes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Fechamos o módulo mostrando que a IA entra em diferentes momentos do processo, mas a responsabilidade do consultor permanece. O próximo passo é transformar essas práticas em padrão corporativo.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384048"/>
            <a:ext cx="146304" cy="0"/>
          </a:xfrm>
          <a:prstGeom prst="line">
            <a:avLst/>
          </a:prstGeom>
          <a:noFill/>
          <a:ln w="30480">
            <a:solidFill>
              <a:srgbClr val="3A8D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A8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Treinamento IA Generativa aplicada à Consultoria SAP</a:t>
            </a:r>
            <a:endParaRPr lang="en-US" sz="580" dirty="0"/>
          </a:p>
        </p:txBody>
      </p:sp>
      <p:sp>
        <p:nvSpPr>
          <p:cNvPr id="5" name="Text 3"/>
          <p:cNvSpPr/>
          <p:nvPr/>
        </p:nvSpPr>
        <p:spPr>
          <a:xfrm>
            <a:off x="10332720" y="65105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Práticos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3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430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Casos Práticos de IA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 Consultoria SAP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230428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4EE"/>
                </a:solidFill>
              </a:rPr>
              <a:t>Módulo 4 — Da demanda ao documento, teste e acompanhamento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589520" y="1051560"/>
            <a:ext cx="2560320" cy="493776"/>
          </a:xfrm>
          <a:prstGeom prst="roundRect">
            <a:avLst/>
          </a:prstGeom>
          <a:solidFill>
            <a:srgbClr val="274357"/>
          </a:solidFill>
          <a:ln w="10160">
            <a:solidFill>
              <a:srgbClr val="3D5E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0" y="12252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8DFF"/>
                </a:solidFill>
              </a:rPr>
              <a:t>DEMANDA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589520" y="1810512"/>
            <a:ext cx="2560320" cy="493776"/>
          </a:xfrm>
          <a:prstGeom prst="roundRect">
            <a:avLst/>
          </a:prstGeom>
          <a:solidFill>
            <a:srgbClr val="2B465A"/>
          </a:solidFill>
          <a:ln w="10160">
            <a:solidFill>
              <a:srgbClr val="3D5E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98424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A23A"/>
                </a:solidFill>
              </a:rPr>
              <a:t>ANÁLISE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0" y="2569464"/>
            <a:ext cx="2560320" cy="493776"/>
          </a:xfrm>
          <a:prstGeom prst="roundRect">
            <a:avLst/>
          </a:prstGeom>
          <a:solidFill>
            <a:srgbClr val="2B465A"/>
          </a:solidFill>
          <a:ln w="10160">
            <a:solidFill>
              <a:srgbClr val="3D5E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27432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764D8"/>
                </a:solidFill>
              </a:rPr>
              <a:t>DOCUMENTAÇÃO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589520" y="3328416"/>
            <a:ext cx="2560320" cy="493776"/>
          </a:xfrm>
          <a:prstGeom prst="roundRect">
            <a:avLst/>
          </a:prstGeom>
          <a:solidFill>
            <a:srgbClr val="2B465A"/>
          </a:solidFill>
          <a:ln w="10160">
            <a:solidFill>
              <a:srgbClr val="3D5E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35021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B56D"/>
                </a:solidFill>
              </a:rPr>
              <a:t>TESTES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589520" y="4087368"/>
            <a:ext cx="2560320" cy="493776"/>
          </a:xfrm>
          <a:prstGeom prst="roundRect">
            <a:avLst/>
          </a:prstGeom>
          <a:solidFill>
            <a:srgbClr val="2B465A"/>
          </a:solidFill>
          <a:ln w="10160">
            <a:solidFill>
              <a:srgbClr val="3D5E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426110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B56D"/>
                </a:solidFill>
              </a:rPr>
              <a:t>VALIDAÇÃO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58064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2C2"/>
                </a:solidFill>
              </a:rPr>
              <a:t>Um único cenário SAP PM evoluindo ao longo do módulo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34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do módulo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7"/>
                </a:solidFill>
              </a:rPr>
              <a:t>Aplicar IA Generativa em atividades reais da consultoria, sem programação.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291840" cy="1143000"/>
          </a:xfrm>
          <a:prstGeom prst="roundRect">
            <a:avLst>
              <a:gd name="adj" fmla="val 4000"/>
            </a:avLst>
          </a:prstGeom>
          <a:solidFill>
            <a:srgbClr val="EEF6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36576" cy="1143000"/>
          </a:xfrm>
          <a:prstGeom prst="rect">
            <a:avLst/>
          </a:prstGeom>
          <a:solidFill>
            <a:srgbClr val="3A8DFF"/>
          </a:solidFill>
          <a:ln w="12700">
            <a:solidFill>
              <a:srgbClr val="3A8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28216"/>
            <a:ext cx="303580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442"/>
                </a:solidFill>
              </a:rPr>
              <a:t>Transformar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43442"/>
                </a:solidFill>
              </a:rPr>
              <a:t>informações brutas em entregáveis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34840" y="1600200"/>
            <a:ext cx="3291840" cy="1143000"/>
          </a:xfrm>
          <a:prstGeom prst="roundRect">
            <a:avLst>
              <a:gd name="adj" fmla="val 4000"/>
            </a:avLst>
          </a:prstGeom>
          <a:solidFill>
            <a:srgbClr val="F4F0FC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34840" y="1600200"/>
            <a:ext cx="36576" cy="1143000"/>
          </a:xfrm>
          <a:prstGeom prst="rect">
            <a:avLst/>
          </a:prstGeom>
          <a:solidFill>
            <a:srgbClr val="8764D8"/>
          </a:solidFill>
          <a:ln w="12700">
            <a:solidFill>
              <a:srgbClr val="876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728216"/>
            <a:ext cx="303580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442"/>
                </a:solidFill>
              </a:rPr>
              <a:t>Aplicar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43442"/>
                </a:solidFill>
              </a:rPr>
              <a:t>prompts e padrões corporativos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0" y="1600200"/>
            <a:ext cx="3291840" cy="1143000"/>
          </a:xfrm>
          <a:prstGeom prst="roundRect">
            <a:avLst>
              <a:gd name="adj" fmla="val 4000"/>
            </a:avLst>
          </a:prstGeom>
          <a:solidFill>
            <a:srgbClr val="EFF9F2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1600200"/>
            <a:ext cx="36576" cy="1143000"/>
          </a:xfrm>
          <a:prstGeom prst="rect">
            <a:avLst/>
          </a:prstGeom>
          <a:solidFill>
            <a:srgbClr val="39B56D"/>
          </a:solidFill>
          <a:ln w="12700">
            <a:solidFill>
              <a:srgbClr val="39B5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4192" y="1728216"/>
            <a:ext cx="303580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442"/>
                </a:solidFill>
              </a:rPr>
              <a:t>Revisar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43442"/>
                </a:solidFill>
              </a:rPr>
              <a:t>e validar antes de entregar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8DFF"/>
                </a:solidFill>
              </a:rPr>
              <a:t>Mensagem central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611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442"/>
                </a:solidFill>
              </a:rPr>
              <a:t>A IA agrega mais valor quando trabalha sobre uma atividade real, com contexto, evidências, padrão de saída e revisão humana.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34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Nosso cenário do treinamento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7"/>
                </a:solidFill>
              </a:rPr>
              <a:t>Uma única demanda será reutilizada ao longo de todo o módulo.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107899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72768"/>
            <a:ext cx="36576" cy="1417320"/>
          </a:xfrm>
          <a:prstGeom prst="rect">
            <a:avLst/>
          </a:prstGeom>
          <a:solidFill>
            <a:srgbClr val="F2A23A"/>
          </a:solidFill>
          <a:ln w="12700">
            <a:solidFill>
              <a:srgbClr val="F2A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700784"/>
            <a:ext cx="1053388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2"/>
                </a:solidFill>
              </a:rPr>
              <a:t>“O cliente identificou que usuários estão conseguindo liberar ordens de manutenção sem responsável definido. Para ordens do tipo ZM01, o sistema deverá impedir a liberação quando o responsável estiver vazio e apresentar uma mensagem ao usuário.”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D5D"/>
                </a:solidFill>
              </a:rPr>
              <a:t>O que ainda NÃO sabemos?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374904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749040"/>
            <a:ext cx="36576" cy="566928"/>
          </a:xfrm>
          <a:prstGeom prst="rect">
            <a:avLst/>
          </a:prstGeom>
          <a:solidFill>
            <a:srgbClr val="3A8DFF"/>
          </a:solidFill>
          <a:ln w="12700">
            <a:solidFill>
              <a:srgbClr val="3A8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3877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442"/>
                </a:solidFill>
              </a:rPr>
              <a:t>Qual campo representa o responsável?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0" y="374904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3749040"/>
            <a:ext cx="36576" cy="566928"/>
          </a:xfrm>
          <a:prstGeom prst="rect">
            <a:avLst/>
          </a:prstGeom>
          <a:solidFill>
            <a:srgbClr val="F2A23A"/>
          </a:solidFill>
          <a:ln w="12700">
            <a:solidFill>
              <a:srgbClr val="F2A2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3877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442"/>
                </a:solidFill>
              </a:rPr>
              <a:t>A regra vale para criação e alteração?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92440" y="374904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3749040"/>
            <a:ext cx="36576" cy="566928"/>
          </a:xfrm>
          <a:prstGeom prst="rect">
            <a:avLst/>
          </a:prstGeom>
          <a:solidFill>
            <a:srgbClr val="8764D8"/>
          </a:solidFill>
          <a:ln w="12700">
            <a:solidFill>
              <a:srgbClr val="876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3877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442"/>
                </a:solidFill>
              </a:rPr>
              <a:t>Existem exceções?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" y="457200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4572000"/>
            <a:ext cx="36576" cy="566928"/>
          </a:xfrm>
          <a:prstGeom prst="rect">
            <a:avLst/>
          </a:prstGeom>
          <a:solidFill>
            <a:srgbClr val="39B56D"/>
          </a:solidFill>
          <a:ln w="12700">
            <a:solidFill>
              <a:srgbClr val="39B5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470001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442"/>
                </a:solidFill>
              </a:rPr>
              <a:t>Qual mensagem deve ser apresentada?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89120" y="457200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4572000"/>
            <a:ext cx="36576" cy="566928"/>
          </a:xfrm>
          <a:prstGeom prst="rect">
            <a:avLst/>
          </a:prstGeom>
          <a:solidFill>
            <a:srgbClr val="3A8DFF"/>
          </a:solidFill>
          <a:ln w="12700">
            <a:solidFill>
              <a:srgbClr val="3A8D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470001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442"/>
                </a:solidFill>
              </a:rPr>
              <a:t>Qual ambiente usar no teste?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92440" y="457200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92440" y="4572000"/>
            <a:ext cx="36576" cy="566928"/>
          </a:xfrm>
          <a:prstGeom prst="rect">
            <a:avLst/>
          </a:prstGeom>
          <a:solidFill>
            <a:srgbClr val="F2A23A"/>
          </a:solidFill>
          <a:ln w="12700">
            <a:solidFill>
              <a:srgbClr val="F2A2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57032" y="470001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442"/>
                </a:solidFill>
              </a:rPr>
              <a:t>Há processos batch envolvidos?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34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demanda vai evoluir por várias entregas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2148840"/>
            <a:ext cx="132588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A8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1742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8DFF"/>
                </a:solidFill>
              </a:rPr>
              <a:t>Solicitação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828800" y="2304288"/>
            <a:ext cx="228600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057400" y="2148840"/>
            <a:ext cx="132588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A8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221742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8DFF"/>
                </a:solidFill>
              </a:rPr>
              <a:t>E-mail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383280" y="2304288"/>
            <a:ext cx="228600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11880" y="2148840"/>
            <a:ext cx="132588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2A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21742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A23A"/>
                </a:solidFill>
              </a:rPr>
              <a:t>Chamado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937760" y="2304288"/>
            <a:ext cx="228600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66360" y="2148840"/>
            <a:ext cx="132588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2A2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221742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A23A"/>
                </a:solidFill>
              </a:rPr>
              <a:t>Análise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92240" y="2304288"/>
            <a:ext cx="228600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720840" y="2148840"/>
            <a:ext cx="132588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876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221742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764D8"/>
                </a:solidFill>
              </a:rPr>
              <a:t>EF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046720" y="2304288"/>
            <a:ext cx="228600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75320" y="2148840"/>
            <a:ext cx="132588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B5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221742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9B56D"/>
                </a:solidFill>
              </a:rPr>
              <a:t>Testes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601200" y="2304288"/>
            <a:ext cx="228600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829800" y="2148840"/>
            <a:ext cx="132588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B5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29800" y="221742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9B56D"/>
                </a:solidFill>
              </a:rPr>
              <a:t>Validação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88720" y="32461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442"/>
                </a:solidFill>
              </a:rPr>
              <a:t>O mesmo contexto é reaproveitado, mas o formato e as regras mudam conforme o objetivo.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2011680" y="4160520"/>
            <a:ext cx="8138160" cy="960120"/>
          </a:xfrm>
          <a:prstGeom prst="roundRect">
            <a:avLst>
              <a:gd name="adj" fmla="val 4762"/>
            </a:avLst>
          </a:prstGeom>
          <a:solidFill>
            <a:srgbClr val="EFF9F2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0" y="4160520"/>
            <a:ext cx="36576" cy="960120"/>
          </a:xfrm>
          <a:prstGeom prst="rect">
            <a:avLst/>
          </a:prstGeom>
          <a:solidFill>
            <a:srgbClr val="39B56D"/>
          </a:solidFill>
          <a:ln w="12700">
            <a:solidFill>
              <a:srgbClr val="39B5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76272" y="4288536"/>
            <a:ext cx="78821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442"/>
                </a:solidFill>
              </a:rPr>
              <a:t>Reutilizar contexto não significa copiar a mesma resposta.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2"/>
                </a:solidFill>
              </a:rPr>
              <a:t>Cada artefato tem público, finalidade e critérios de qualidade próprios.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34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1 — Revisão de e-mail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7"/>
                </a:solidFill>
              </a:rPr>
              <a:t>Começamos pela tarefa mais simples e cotidiana.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14904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D5D"/>
                </a:solidFill>
              </a:rPr>
              <a:t>Rascunho do consultor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21208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83080"/>
            <a:ext cx="36576" cy="2011680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911096"/>
            <a:ext cx="495604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442"/>
                </a:solidFill>
              </a:rPr>
              <a:t>Pessoal, fizemos os testes hoje e vimos que ainda está dando erro no ambiente de qualidade. O Paulo vai olhar isso amanhã e depois retornamos. Acho que pode ser problema de configuração.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63640" y="14904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B56D"/>
                </a:solidFill>
              </a:rPr>
              <a:t>Com PROMPT-EMAIL-001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12080" cy="2011680"/>
          </a:xfrm>
          <a:prstGeom prst="roundRect">
            <a:avLst>
              <a:gd name="adj" fmla="val 2273"/>
            </a:avLst>
          </a:prstGeom>
          <a:solidFill>
            <a:srgbClr val="EFF9F2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783080"/>
            <a:ext cx="36576" cy="2011680"/>
          </a:xfrm>
          <a:prstGeom prst="rect">
            <a:avLst/>
          </a:prstGeom>
          <a:solidFill>
            <a:srgbClr val="39B56D"/>
          </a:solidFill>
          <a:ln w="12700">
            <a:solidFill>
              <a:srgbClr val="39B5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911096"/>
            <a:ext cx="495604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442"/>
                </a:solidFill>
              </a:rPr>
              <a:t>Prezados,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2"/>
                </a:solidFill>
              </a:rPr>
              <a:t>Durante os testes realizados hoje no ambiente de qualidade, identificamos que o comportamento reportado ainda persiste. O cenário será analisado novamente amanhã. A possibilidade de configuração permanece como hipótese e ainda precisa ser confirmada.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0" y="4343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23A"/>
                </a:solidFill>
              </a:rPr>
              <a:t>Hipótese continua sendo hipótese.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34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2 — Apontamento de horas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7"/>
                </a:solidFill>
              </a:rPr>
              <a:t>Melhorar a descrição sem inflar o trabalho realizado.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886200" cy="2194560"/>
          </a:xfrm>
          <a:prstGeom prst="roundRect">
            <a:avLst>
              <a:gd name="adj" fmla="val 2083"/>
            </a:avLst>
          </a:prstGeom>
          <a:solidFill>
            <a:srgbClr val="EEF6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36576" cy="2194560"/>
          </a:xfrm>
          <a:prstGeom prst="rect">
            <a:avLst/>
          </a:prstGeom>
          <a:solidFill>
            <a:srgbClr val="3A8DFF"/>
          </a:solidFill>
          <a:ln w="12700">
            <a:solidFill>
              <a:srgbClr val="3A8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36776"/>
            <a:ext cx="363016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442"/>
                </a:solidFill>
              </a:rPr>
              <a:t>Anotações rápidas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442"/>
                </a:solidFill>
              </a:rPr>
              <a:t>• Testei login do OMS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442"/>
                </a:solidFill>
              </a:rPr>
              <a:t>• Reunião com Paulo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442"/>
                </a:solidFill>
              </a:rPr>
              <a:t>• Analisei erro do OData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442"/>
                </a:solidFill>
              </a:rPr>
              <a:t>• Validei APK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17720" y="2606040"/>
            <a:ext cx="914400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623560" y="1508760"/>
            <a:ext cx="5486400" cy="2194560"/>
          </a:xfrm>
          <a:prstGeom prst="roundRect">
            <a:avLst>
              <a:gd name="adj" fmla="val 2083"/>
            </a:avLst>
          </a:prstGeom>
          <a:solidFill>
            <a:srgbClr val="EFF9F2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23560" y="1508760"/>
            <a:ext cx="36576" cy="2194560"/>
          </a:xfrm>
          <a:prstGeom prst="rect">
            <a:avLst/>
          </a:prstGeom>
          <a:solidFill>
            <a:srgbClr val="39B56D"/>
          </a:solidFill>
          <a:ln w="12700">
            <a:solidFill>
              <a:srgbClr val="39B5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88152" y="1636776"/>
            <a:ext cx="523036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442"/>
                </a:solidFill>
              </a:rPr>
              <a:t>Apontamento estruturado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43442"/>
                </a:solidFill>
              </a:rPr>
              <a:t>Realizadas validações do processo de autenticação do OMS, análise do erro identificado nas chamadas OData e testes da versão APK. Também foi realizado alinhamento para discussão do cenário e definição dos próximos passos.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251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A23A"/>
                </a:solidFill>
              </a:rPr>
              <a:t>Regra do treinamento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46177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442"/>
                </a:solidFill>
              </a:rPr>
              <a:t>IA melhora a descrição do trabalho. IA não cria trabalho que não aconteceu.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34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3 — Atualização de chamado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7"/>
                </a:solidFill>
              </a:rPr>
              <a:t>Transformando anotações dispersas em histórico rastreável.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107442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36576" cy="594360"/>
          </a:xfrm>
          <a:prstGeom prst="rect">
            <a:avLst/>
          </a:prstGeom>
          <a:solidFill>
            <a:srgbClr val="3A8DFF"/>
          </a:solidFill>
          <a:ln w="12700">
            <a:solidFill>
              <a:srgbClr val="3A8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636776"/>
            <a:ext cx="10488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442"/>
                </a:solidFill>
              </a:rPr>
              <a:t>Contexto  —  Erro no processo de liberação da ordem ZM01.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2313432"/>
            <a:ext cx="107442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313432"/>
            <a:ext cx="36576" cy="594360"/>
          </a:xfrm>
          <a:prstGeom prst="rect">
            <a:avLst/>
          </a:prstGeom>
          <a:solidFill>
            <a:srgbClr val="F2A23A"/>
          </a:solidFill>
          <a:ln w="12700">
            <a:solidFill>
              <a:srgbClr val="F2A2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441448"/>
            <a:ext cx="10488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442"/>
                </a:solidFill>
              </a:rPr>
              <a:t>Análise  —  Cenário reproduzido com ordem sem responsável.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3118104"/>
            <a:ext cx="107442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118104"/>
            <a:ext cx="36576" cy="594360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246120"/>
            <a:ext cx="10488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442"/>
                </a:solidFill>
              </a:rPr>
              <a:t>Evidência  —  Liberação é permitida mesmo com campo vazio.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3922776"/>
            <a:ext cx="107442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922776"/>
            <a:ext cx="36576" cy="594360"/>
          </a:xfrm>
          <a:prstGeom prst="rect">
            <a:avLst/>
          </a:prstGeom>
          <a:solidFill>
            <a:srgbClr val="8764D8"/>
          </a:solidFill>
          <a:ln w="12700">
            <a:solidFill>
              <a:srgbClr val="876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4050792"/>
            <a:ext cx="10488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442"/>
                </a:solidFill>
              </a:rPr>
              <a:t>Situação atual  —  Comportamento confirmado; causa ainda não analisada.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4727448"/>
            <a:ext cx="107442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727448"/>
            <a:ext cx="36576" cy="594360"/>
          </a:xfrm>
          <a:prstGeom prst="rect">
            <a:avLst/>
          </a:prstGeom>
          <a:solidFill>
            <a:srgbClr val="39B56D"/>
          </a:solidFill>
          <a:ln w="12700">
            <a:solidFill>
              <a:srgbClr val="39B5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4855464"/>
            <a:ext cx="10488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442"/>
                </a:solidFill>
              </a:rPr>
              <a:t>Próximo passo  —  Validar regra funcional e ponto de validação.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023360" y="5715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23A"/>
                </a:solidFill>
              </a:rPr>
              <a:t>Fato ≠ diagnóstico ≠ hipótese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34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4 — Antes da especificação, análise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7"/>
                </a:solidFill>
              </a:rPr>
              <a:t>Não peça o documento final imediatamente.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82880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A8D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8016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8DFF"/>
                </a:solidFill>
              </a:rPr>
              <a:t>MÉTODO RECOMENDADO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2148840"/>
            <a:ext cx="205740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A8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17420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8DFF"/>
                </a:solidFill>
              </a:rPr>
              <a:t>ANALISE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71800" y="2304288"/>
            <a:ext cx="548640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57600" y="2148840"/>
            <a:ext cx="205740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2A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217420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A23A"/>
                </a:solidFill>
              </a:rPr>
              <a:t>PERGUNTE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715000" y="2304288"/>
            <a:ext cx="548640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0" y="2148840"/>
            <a:ext cx="205740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876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217420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764D8"/>
                </a:solidFill>
              </a:rPr>
              <a:t>PRODUZA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458200" y="2304288"/>
            <a:ext cx="548640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4000" y="2148840"/>
            <a:ext cx="205740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B5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2217420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9B56D"/>
                </a:solidFill>
              </a:rPr>
              <a:t>VALIDE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5800" y="3063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442"/>
                </a:solidFill>
              </a:rPr>
              <a:t>Perguntas que a IA deveria ajudar a formular: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474720"/>
            <a:ext cx="475488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43442"/>
                </a:solidFill>
              </a:rPr>
              <a:t>Qual tipo de ordem está no escopo?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43442"/>
                </a:solidFill>
              </a:rPr>
              <a:t>Qual campo representa o responsável?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43442"/>
                </a:solidFill>
              </a:rPr>
              <a:t>Quando a validação deve ocorrer?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43442"/>
                </a:solidFill>
              </a:rPr>
              <a:t>Existem exceções?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43442"/>
                </a:solidFill>
              </a:rPr>
              <a:t>Qual mensagem deve ser exibida?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43442"/>
                </a:solidFill>
              </a:rPr>
              <a:t>A regra vale para criação e alteração?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26480" y="3474720"/>
            <a:ext cx="457200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43442"/>
                </a:solidFill>
              </a:rPr>
              <a:t>Há processos batch?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43442"/>
                </a:solidFill>
              </a:rPr>
              <a:t>Qual ambiente de testes?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43442"/>
                </a:solidFill>
              </a:rPr>
              <a:t>Quem valida funcionalmente?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43442"/>
                </a:solidFill>
              </a:rPr>
              <a:t>Existe impacto em integrações?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43442"/>
                </a:solidFill>
              </a:rPr>
              <a:t>Há autorização específica?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43442"/>
                </a:solidFill>
              </a:rPr>
              <a:t>Como tratar ordens emergenciais?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34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Requisito enriquecido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7"/>
                </a:solidFill>
              </a:rPr>
              <a:t>Depois das perguntas, já temos informações suficientes para avançar.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481328"/>
            <a:ext cx="3337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81328"/>
            <a:ext cx="36576" cy="914400"/>
          </a:xfrm>
          <a:prstGeom prst="rect">
            <a:avLst/>
          </a:prstGeom>
          <a:solidFill>
            <a:srgbClr val="3A8DFF"/>
          </a:solidFill>
          <a:ln w="12700">
            <a:solidFill>
              <a:srgbClr val="3A8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609344"/>
            <a:ext cx="3081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442"/>
                </a:solidFill>
              </a:rPr>
              <a:t>Sistema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43442"/>
                </a:solidFill>
              </a:rPr>
              <a:t>SAP S/4HANA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1481328"/>
            <a:ext cx="3337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1481328"/>
            <a:ext cx="36576" cy="914400"/>
          </a:xfrm>
          <a:prstGeom prst="rect">
            <a:avLst/>
          </a:prstGeom>
          <a:solidFill>
            <a:srgbClr val="3A8DFF"/>
          </a:solidFill>
          <a:ln w="12700">
            <a:solidFill>
              <a:srgbClr val="3A8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609344"/>
            <a:ext cx="3081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442"/>
                </a:solidFill>
              </a:rPr>
              <a:t>Módulo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43442"/>
                </a:solidFill>
              </a:rPr>
              <a:t>PM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92440" y="1481328"/>
            <a:ext cx="3337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1481328"/>
            <a:ext cx="36576" cy="914400"/>
          </a:xfrm>
          <a:prstGeom prst="rect">
            <a:avLst/>
          </a:prstGeom>
          <a:solidFill>
            <a:srgbClr val="F2A23A"/>
          </a:solidFill>
          <a:ln w="12700">
            <a:solidFill>
              <a:srgbClr val="F2A2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1609344"/>
            <a:ext cx="3081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442"/>
                </a:solidFill>
              </a:rPr>
              <a:t>Processo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43442"/>
                </a:solidFill>
              </a:rPr>
              <a:t>Manutenção corretiva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715768"/>
            <a:ext cx="3337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715768"/>
            <a:ext cx="36576" cy="914400"/>
          </a:xfrm>
          <a:prstGeom prst="rect">
            <a:avLst/>
          </a:prstGeom>
          <a:solidFill>
            <a:srgbClr val="F2A23A"/>
          </a:solidFill>
          <a:ln w="12700">
            <a:solidFill>
              <a:srgbClr val="F2A2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843784"/>
            <a:ext cx="3081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442"/>
                </a:solidFill>
              </a:rPr>
              <a:t>Tipo de ordem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43442"/>
                </a:solidFill>
              </a:rPr>
              <a:t>ZM01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2715768"/>
            <a:ext cx="3337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2715768"/>
            <a:ext cx="36576" cy="914400"/>
          </a:xfrm>
          <a:prstGeom prst="rect">
            <a:avLst/>
          </a:prstGeom>
          <a:solidFill>
            <a:srgbClr val="8764D8"/>
          </a:solidFill>
          <a:ln w="12700">
            <a:solidFill>
              <a:srgbClr val="876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2843784"/>
            <a:ext cx="3081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442"/>
                </a:solidFill>
              </a:rPr>
              <a:t>Validação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43442"/>
                </a:solidFill>
              </a:rPr>
              <a:t>Ao liberar a ordem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92440" y="2715768"/>
            <a:ext cx="3337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2440" y="2715768"/>
            <a:ext cx="36576" cy="914400"/>
          </a:xfrm>
          <a:prstGeom prst="rect">
            <a:avLst/>
          </a:prstGeom>
          <a:solidFill>
            <a:srgbClr val="8764D8"/>
          </a:solidFill>
          <a:ln w="12700">
            <a:solidFill>
              <a:srgbClr val="876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7032" y="2843784"/>
            <a:ext cx="3081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442"/>
                </a:solidFill>
              </a:rPr>
              <a:t>Condição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43442"/>
                </a:solidFill>
              </a:rPr>
              <a:t>Responsável vazio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3950208"/>
            <a:ext cx="3337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950208"/>
            <a:ext cx="36576" cy="914400"/>
          </a:xfrm>
          <a:prstGeom prst="rect">
            <a:avLst/>
          </a:prstGeom>
          <a:solidFill>
            <a:srgbClr val="39B56D"/>
          </a:solidFill>
          <a:ln w="12700">
            <a:solidFill>
              <a:srgbClr val="39B5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078224"/>
            <a:ext cx="3081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442"/>
                </a:solidFill>
              </a:rPr>
              <a:t>Comportamento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43442"/>
                </a:solidFill>
              </a:rPr>
              <a:t>Bloquear e exibir erro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3950208"/>
            <a:ext cx="3337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3950208"/>
            <a:ext cx="36576" cy="914400"/>
          </a:xfrm>
          <a:prstGeom prst="rect">
            <a:avLst/>
          </a:prstGeom>
          <a:solidFill>
            <a:srgbClr val="39B56D"/>
          </a:solidFill>
          <a:ln w="12700">
            <a:solidFill>
              <a:srgbClr val="39B5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3712" y="4078224"/>
            <a:ext cx="3081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442"/>
                </a:solidFill>
              </a:rPr>
              <a:t>Escopo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43442"/>
                </a:solidFill>
              </a:rPr>
              <a:t>Criação e alteração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92440" y="3950208"/>
            <a:ext cx="3337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92440" y="3950208"/>
            <a:ext cx="36576" cy="914400"/>
          </a:xfrm>
          <a:prstGeom prst="rect">
            <a:avLst/>
          </a:prstGeom>
          <a:solidFill>
            <a:srgbClr val="3A8DFF"/>
          </a:solidFill>
          <a:ln w="12700">
            <a:solidFill>
              <a:srgbClr val="3A8D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57032" y="4078224"/>
            <a:ext cx="3081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442"/>
                </a:solidFill>
              </a:rPr>
              <a:t>Ambiente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43442"/>
                </a:solidFill>
              </a:rPr>
              <a:t>QAS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34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5 — Gerando a Especificação Funcional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7"/>
                </a:solidFill>
              </a:rPr>
              <a:t>Prompt corporativo + template oficial + requisitos validados.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219456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A8D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8882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8DFF"/>
                </a:solidFill>
              </a:rPr>
              <a:t>Requisitos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880360" y="2075688"/>
            <a:ext cx="777240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03320" y="1417320"/>
            <a:ext cx="237744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876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148590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764D8"/>
                </a:solidFill>
              </a:rPr>
              <a:t>PROMPT-EF-001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703320" y="2468880"/>
            <a:ext cx="237744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2A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253746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A23A"/>
                </a:solidFill>
              </a:rPr>
              <a:t>Template Word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26480" y="2075688"/>
            <a:ext cx="777240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995160" y="1920240"/>
            <a:ext cx="182880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A8D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198882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8DFF"/>
                </a:solidFill>
              </a:rPr>
              <a:t>IA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823960" y="2075688"/>
            <a:ext cx="640080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555480" y="1920240"/>
            <a:ext cx="187452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B5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55480" y="198882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9B56D"/>
                </a:solidFill>
              </a:rPr>
              <a:t>EF preenchida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280160" y="3657600"/>
            <a:ext cx="9601200" cy="1188720"/>
          </a:xfrm>
          <a:prstGeom prst="roundRect">
            <a:avLst>
              <a:gd name="adj" fmla="val 3846"/>
            </a:avLst>
          </a:prstGeom>
          <a:solidFill>
            <a:srgbClr val="EFF9F2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80160" y="3657600"/>
            <a:ext cx="36576" cy="1188720"/>
          </a:xfrm>
          <a:prstGeom prst="rect">
            <a:avLst/>
          </a:prstGeom>
          <a:solidFill>
            <a:srgbClr val="39B56D"/>
          </a:solidFill>
          <a:ln w="12700">
            <a:solidFill>
              <a:srgbClr val="39B5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44752" y="3785616"/>
            <a:ext cx="93451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442"/>
                </a:solidFill>
              </a:rPr>
              <a:t>O resultado esperado é um Word preenchido preservando a estrutura corporativa, com pendências explícitas e sem inventar objetos técnicos.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34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esperamos da Especificação Funcional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85800" y="1508760"/>
            <a:ext cx="3246120" cy="338328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08760"/>
            <a:ext cx="36576" cy="3383280"/>
          </a:xfrm>
          <a:prstGeom prst="rect">
            <a:avLst/>
          </a:prstGeom>
          <a:solidFill>
            <a:srgbClr val="3A8DFF"/>
          </a:solidFill>
          <a:ln w="12700">
            <a:solidFill>
              <a:srgbClr val="3A8D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636776"/>
            <a:ext cx="2990088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3442"/>
                </a:solidFill>
              </a:rPr>
              <a:t>Parte funcional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0392" y="2240280"/>
            <a:ext cx="27889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43442"/>
                </a:solidFill>
              </a:rPr>
              <a:t>Informações gerais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43442"/>
                </a:solidFill>
              </a:rPr>
              <a:t>Fluxo do processo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43442"/>
                </a:solidFill>
              </a:rPr>
              <a:t>AS-IS / TO-BE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43442"/>
                </a:solidFill>
              </a:rPr>
              <a:t>Resultado esperado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069080" y="1508760"/>
            <a:ext cx="3246120" cy="338328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69080" y="1508760"/>
            <a:ext cx="36576" cy="3383280"/>
          </a:xfrm>
          <a:prstGeom prst="rect">
            <a:avLst/>
          </a:prstGeom>
          <a:solidFill>
            <a:srgbClr val="F2A23A"/>
          </a:solidFill>
          <a:ln w="12700">
            <a:solidFill>
              <a:srgbClr val="F2A2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33672" y="1636776"/>
            <a:ext cx="2990088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3442"/>
                </a:solidFill>
              </a:rPr>
              <a:t>Entendimento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33672" y="2240280"/>
            <a:ext cx="27889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43442"/>
                </a:solidFill>
              </a:rPr>
              <a:t>Tipo de desenvolvimento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43442"/>
                </a:solidFill>
              </a:rPr>
              <a:t>Objetos confirmados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43442"/>
                </a:solidFill>
              </a:rPr>
              <a:t>Evidências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43442"/>
                </a:solidFill>
              </a:rPr>
              <a:t>Cenário de teste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52360" y="1508760"/>
            <a:ext cx="3246120" cy="338328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52360" y="1508760"/>
            <a:ext cx="36576" cy="3383280"/>
          </a:xfrm>
          <a:prstGeom prst="rect">
            <a:avLst/>
          </a:prstGeom>
          <a:solidFill>
            <a:srgbClr val="39B56D"/>
          </a:solidFill>
          <a:ln w="12700">
            <a:solidFill>
              <a:srgbClr val="39B5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16952" y="1636776"/>
            <a:ext cx="2990088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3442"/>
                </a:solidFill>
              </a:rPr>
              <a:t>Controle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16952" y="2240280"/>
            <a:ext cx="27889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43442"/>
                </a:solidFill>
              </a:rPr>
              <a:t>Pendências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43442"/>
                </a:solidFill>
              </a:rPr>
              <a:t>Premissas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43442"/>
                </a:solidFill>
              </a:rPr>
              <a:t>Validação humana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243442"/>
                </a:solidFill>
              </a:rPr>
              <a:t>Customização não inventada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46120" y="534924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442"/>
                </a:solidFill>
              </a:rPr>
              <a:t>A IA estrutura. O consultor aprova.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34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6 — Revisão crítica da EF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7"/>
                </a:solidFill>
              </a:rPr>
              <a:t>Gerar o Word não encerra o trabalho.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0292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36576" cy="777240"/>
          </a:xfrm>
          <a:prstGeom prst="rect">
            <a:avLst/>
          </a:prstGeom>
          <a:solidFill>
            <a:srgbClr val="3A8DFF"/>
          </a:solidFill>
          <a:ln w="12700">
            <a:solidFill>
              <a:srgbClr val="3A8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636776"/>
            <a:ext cx="47731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442"/>
                </a:solidFill>
              </a:rPr>
              <a:t>O requisito está correto?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50292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508760"/>
            <a:ext cx="36576" cy="777240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6792" y="1636776"/>
            <a:ext cx="47731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442"/>
                </a:solidFill>
              </a:rPr>
              <a:t>Alguma regra foi inventada?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560320"/>
            <a:ext cx="50292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560320"/>
            <a:ext cx="36576" cy="777240"/>
          </a:xfrm>
          <a:prstGeom prst="rect">
            <a:avLst/>
          </a:prstGeom>
          <a:solidFill>
            <a:srgbClr val="F2A23A"/>
          </a:solidFill>
          <a:ln w="12700">
            <a:solidFill>
              <a:srgbClr val="F2A2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688336"/>
            <a:ext cx="47731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442"/>
                </a:solidFill>
              </a:rPr>
              <a:t>Alguma transação foi presumida?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2560320"/>
            <a:ext cx="50292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2560320"/>
            <a:ext cx="36576" cy="777240"/>
          </a:xfrm>
          <a:prstGeom prst="rect">
            <a:avLst/>
          </a:prstGeom>
          <a:solidFill>
            <a:srgbClr val="39B56D"/>
          </a:solidFill>
          <a:ln w="12700">
            <a:solidFill>
              <a:srgbClr val="39B5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2688336"/>
            <a:ext cx="47731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442"/>
                </a:solidFill>
              </a:rPr>
              <a:t>O resultado esperado é testável?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611880"/>
            <a:ext cx="50292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611880"/>
            <a:ext cx="36576" cy="777240"/>
          </a:xfrm>
          <a:prstGeom prst="rect">
            <a:avLst/>
          </a:prstGeom>
          <a:solidFill>
            <a:srgbClr val="8764D8"/>
          </a:solidFill>
          <a:ln w="12700">
            <a:solidFill>
              <a:srgbClr val="876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739896"/>
            <a:ext cx="47731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442"/>
                </a:solidFill>
              </a:rPr>
              <a:t>Existem exceções pendentes?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611880"/>
            <a:ext cx="50292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3611880"/>
            <a:ext cx="36576" cy="777240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739896"/>
            <a:ext cx="47731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442"/>
                </a:solidFill>
              </a:rPr>
              <a:t>Há decisões técnicas apresentadas como funcionais?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920240" y="4983480"/>
            <a:ext cx="8229600" cy="868680"/>
          </a:xfrm>
          <a:prstGeom prst="roundRect">
            <a:avLst>
              <a:gd name="adj" fmla="val 5263"/>
            </a:avLst>
          </a:prstGeom>
          <a:solidFill>
            <a:srgbClr val="FFF5E8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0240" y="4983480"/>
            <a:ext cx="36576" cy="868680"/>
          </a:xfrm>
          <a:prstGeom prst="rect">
            <a:avLst/>
          </a:prstGeom>
          <a:solidFill>
            <a:srgbClr val="F2A23A"/>
          </a:solidFill>
          <a:ln w="12700">
            <a:solidFill>
              <a:srgbClr val="F2A2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84832" y="5111496"/>
            <a:ext cx="79735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442"/>
                </a:solidFill>
              </a:rPr>
              <a:t>Documento gerado por IA = rascunho estruturado.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43442"/>
                </a:solidFill>
              </a:rPr>
              <a:t>Não = aprovação funcional automática.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34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7 — Especificação Técnica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7"/>
                </a:solidFill>
              </a:rPr>
              <a:t>A IA pode estruturar; a arquitetura continua sendo responsabilidade técnica.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3154680" cy="3291840"/>
          </a:xfrm>
          <a:prstGeom prst="roundRect">
            <a:avLst>
              <a:gd name="adj" fmla="val 1449"/>
            </a:avLst>
          </a:prstGeom>
          <a:solidFill>
            <a:srgbClr val="EEF6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54480"/>
            <a:ext cx="36576" cy="3291840"/>
          </a:xfrm>
          <a:prstGeom prst="rect">
            <a:avLst/>
          </a:prstGeom>
          <a:solidFill>
            <a:srgbClr val="3A8DFF"/>
          </a:solidFill>
          <a:ln w="12700">
            <a:solidFill>
              <a:srgbClr val="3A8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682496"/>
            <a:ext cx="289864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442"/>
                </a:solidFill>
              </a:rPr>
              <a:t>Entradas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2"/>
                </a:solidFill>
              </a:rPr>
              <a:t>• EF aprovada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2"/>
                </a:solidFill>
              </a:rPr>
              <a:t>• Objetos conhecidos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2"/>
                </a:solidFill>
              </a:rPr>
              <a:t>• Arquitetura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2"/>
                </a:solidFill>
              </a:rPr>
              <a:t>• Padrões de desenvolvimento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31920" y="2788920"/>
            <a:ext cx="822960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846320" y="1554480"/>
            <a:ext cx="2834640" cy="3291840"/>
          </a:xfrm>
          <a:prstGeom prst="roundRect">
            <a:avLst>
              <a:gd name="adj" fmla="val 1613"/>
            </a:avLst>
          </a:prstGeom>
          <a:solidFill>
            <a:srgbClr val="F4F0FC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554480"/>
            <a:ext cx="36576" cy="3291840"/>
          </a:xfrm>
          <a:prstGeom prst="rect">
            <a:avLst/>
          </a:prstGeom>
          <a:solidFill>
            <a:srgbClr val="8764D8"/>
          </a:solidFill>
          <a:ln w="12700">
            <a:solidFill>
              <a:srgbClr val="876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0912" y="1682496"/>
            <a:ext cx="257860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442"/>
                </a:solidFill>
              </a:rPr>
              <a:t>IA organiza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2"/>
                </a:solidFill>
              </a:rPr>
              <a:t>• Objetivo técnico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2"/>
                </a:solidFill>
              </a:rPr>
              <a:t>• Dependências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2"/>
                </a:solidFill>
              </a:rPr>
              <a:t>• Validações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2"/>
                </a:solidFill>
              </a:rPr>
              <a:t>• Logs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2"/>
                </a:solidFill>
              </a:rPr>
              <a:t>• Segurança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2"/>
                </a:solidFill>
              </a:rPr>
              <a:t>• Testes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0" y="2788920"/>
            <a:ext cx="822960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686800" y="1554480"/>
            <a:ext cx="2743200" cy="3291840"/>
          </a:xfrm>
          <a:prstGeom prst="roundRect">
            <a:avLst>
              <a:gd name="adj" fmla="val 1667"/>
            </a:avLst>
          </a:prstGeom>
          <a:solidFill>
            <a:srgbClr val="EFF9F2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1554480"/>
            <a:ext cx="36576" cy="3291840"/>
          </a:xfrm>
          <a:prstGeom prst="rect">
            <a:avLst/>
          </a:prstGeom>
          <a:solidFill>
            <a:srgbClr val="39B56D"/>
          </a:solidFill>
          <a:ln w="12700">
            <a:solidFill>
              <a:srgbClr val="39B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51392" y="1682496"/>
            <a:ext cx="248716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442"/>
                </a:solidFill>
              </a:rPr>
              <a:t>Especialista define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2"/>
                </a:solidFill>
              </a:rPr>
              <a:t>• Arquitetura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2"/>
                </a:solidFill>
              </a:rPr>
              <a:t>• Objetos finais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2"/>
                </a:solidFill>
              </a:rPr>
              <a:t>• Estratégia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2"/>
                </a:solidFill>
              </a:rPr>
              <a:t>• Decisões técnicas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525780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D5D"/>
                </a:solidFill>
              </a:rPr>
              <a:t>A IA não deve decidir sozinha a arquitetura técnica.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34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8 — Casos de teste funcional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7"/>
                </a:solidFill>
              </a:rPr>
              <a:t>Derivar testes diretamente dos requisitos aprovados.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822960" cy="365760"/>
          </a:xfrm>
          <a:prstGeom prst="rect">
            <a:avLst/>
          </a:prstGeom>
          <a:solidFill>
            <a:srgbClr val="E8EEF4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2"/>
                </a:solidFill>
              </a:rPr>
              <a:t>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63040" y="1508760"/>
            <a:ext cx="3017520" cy="365760"/>
          </a:xfrm>
          <a:prstGeom prst="rect">
            <a:avLst/>
          </a:prstGeom>
          <a:solidFill>
            <a:srgbClr val="E8EEF4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2"/>
                </a:solidFill>
              </a:rPr>
              <a:t>Cenário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80560" y="1508760"/>
            <a:ext cx="2194560" cy="365760"/>
          </a:xfrm>
          <a:prstGeom prst="rect">
            <a:avLst/>
          </a:prstGeom>
          <a:solidFill>
            <a:srgbClr val="E8EEF4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2"/>
                </a:solidFill>
              </a:rPr>
              <a:t>Ação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75120" y="1508760"/>
            <a:ext cx="4663440" cy="365760"/>
          </a:xfrm>
          <a:prstGeom prst="rect">
            <a:avLst/>
          </a:prstGeom>
          <a:solidFill>
            <a:srgbClr val="E8EEF4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2"/>
                </a:solidFill>
              </a:rPr>
              <a:t>Resultado esperado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822960" cy="786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8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442"/>
                </a:solidFill>
              </a:rPr>
              <a:t>TF-001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63040" y="1874520"/>
            <a:ext cx="3017520" cy="786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8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442"/>
                </a:solidFill>
              </a:rPr>
              <a:t>ZM01 com responsável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80560" y="1874520"/>
            <a:ext cx="2194560" cy="786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8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442"/>
                </a:solidFill>
              </a:rPr>
              <a:t>Liberar ordem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675120" y="1874520"/>
            <a:ext cx="4663440" cy="786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8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442"/>
                </a:solidFill>
              </a:rPr>
              <a:t>Ordem liberada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2715768"/>
            <a:ext cx="822960" cy="786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8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442"/>
                </a:solidFill>
              </a:rPr>
              <a:t>TF-002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463040" y="2715768"/>
            <a:ext cx="3017520" cy="786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8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442"/>
                </a:solidFill>
              </a:rPr>
              <a:t>ZM01 sem responsável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80560" y="2715768"/>
            <a:ext cx="2194560" cy="786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8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442"/>
                </a:solidFill>
              </a:rPr>
              <a:t>Liberar ordem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75120" y="2715768"/>
            <a:ext cx="4663440" cy="786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8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442"/>
                </a:solidFill>
              </a:rPr>
              <a:t>Sistema bloqueia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557016"/>
            <a:ext cx="822960" cy="786384"/>
          </a:xfrm>
          <a:prstGeom prst="rect">
            <a:avLst/>
          </a:prstGeom>
          <a:solidFill>
            <a:srgbClr val="FFF5E8"/>
          </a:solidFill>
          <a:ln w="7620">
            <a:solidFill>
              <a:srgbClr val="D8E0E8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442"/>
                </a:solidFill>
              </a:rPr>
              <a:t>TF-003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463040" y="3557016"/>
            <a:ext cx="3017520" cy="786384"/>
          </a:xfrm>
          <a:prstGeom prst="rect">
            <a:avLst/>
          </a:prstGeom>
          <a:solidFill>
            <a:srgbClr val="FFF5E8"/>
          </a:solidFill>
          <a:ln w="7620">
            <a:solidFill>
              <a:srgbClr val="D8E0E8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442"/>
                </a:solidFill>
              </a:rPr>
              <a:t>Outro tipo de ordem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80560" y="3557016"/>
            <a:ext cx="2194560" cy="786384"/>
          </a:xfrm>
          <a:prstGeom prst="rect">
            <a:avLst/>
          </a:prstGeom>
          <a:solidFill>
            <a:srgbClr val="FFF5E8"/>
          </a:solidFill>
          <a:ln w="7620">
            <a:solidFill>
              <a:srgbClr val="D8E0E8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442"/>
                </a:solidFill>
              </a:rPr>
              <a:t>Liberar ordem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75120" y="3557016"/>
            <a:ext cx="4663440" cy="786384"/>
          </a:xfrm>
          <a:prstGeom prst="rect">
            <a:avLst/>
          </a:prstGeom>
          <a:solidFill>
            <a:srgbClr val="FFF5E8"/>
          </a:solidFill>
          <a:ln w="7620">
            <a:solidFill>
              <a:srgbClr val="D8E0E8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442"/>
                </a:solidFill>
              </a:rPr>
              <a:t>Validar escopo antes de assumir comportamento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28800" y="4937760"/>
            <a:ext cx="8412480" cy="822960"/>
          </a:xfrm>
          <a:prstGeom prst="roundRect">
            <a:avLst>
              <a:gd name="adj" fmla="val 5556"/>
            </a:avLst>
          </a:prstGeom>
          <a:solidFill>
            <a:srgbClr val="FFF5E8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0" y="4937760"/>
            <a:ext cx="36576" cy="822960"/>
          </a:xfrm>
          <a:prstGeom prst="rect">
            <a:avLst/>
          </a:prstGeom>
          <a:solidFill>
            <a:srgbClr val="F2A23A"/>
          </a:solidFill>
          <a:ln w="12700">
            <a:solidFill>
              <a:srgbClr val="F2A2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93392" y="5065776"/>
            <a:ext cx="8156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442"/>
                </a:solidFill>
              </a:rPr>
              <a:t>A IA pode ampliar cobertura, mas não deve transformar uma inferência em requisito.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34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Rastreabilidade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7"/>
                </a:solidFill>
              </a:rPr>
              <a:t>Conectar requisito, regra e teste.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173736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A8D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2598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8DFF"/>
                </a:solidFill>
              </a:rPr>
              <a:t>REQ-001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560320" y="2212848"/>
            <a:ext cx="1188720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840480" y="2057400"/>
            <a:ext cx="173736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876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212598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764D8"/>
                </a:solidFill>
              </a:rPr>
              <a:t>EF / RN-001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577840" y="2212848"/>
            <a:ext cx="1188720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1572768"/>
            <a:ext cx="173736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B5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64134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9B56D"/>
                </a:solidFill>
              </a:rPr>
              <a:t>TF-001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858000" y="2542032"/>
            <a:ext cx="173736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B5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261061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9B56D"/>
                </a:solidFill>
              </a:rPr>
              <a:t>TF-002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2296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442"/>
                </a:solidFill>
              </a:rPr>
              <a:t>Perguntas úteis para a IA: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069080"/>
            <a:ext cx="47548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069080"/>
            <a:ext cx="36576" cy="777240"/>
          </a:xfrm>
          <a:prstGeom prst="rect">
            <a:avLst/>
          </a:prstGeom>
          <a:solidFill>
            <a:srgbClr val="3A8DFF"/>
          </a:solidFill>
          <a:ln w="12700">
            <a:solidFill>
              <a:srgbClr val="3A8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197096"/>
            <a:ext cx="44988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442"/>
                </a:solidFill>
              </a:rPr>
              <a:t>Existe algum requisito sem caso de teste?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4069080"/>
            <a:ext cx="47548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4069080"/>
            <a:ext cx="36576" cy="777240"/>
          </a:xfrm>
          <a:prstGeom prst="rect">
            <a:avLst/>
          </a:prstGeom>
          <a:solidFill>
            <a:srgbClr val="F2A23A"/>
          </a:solidFill>
          <a:ln w="12700">
            <a:solidFill>
              <a:srgbClr val="F2A2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1072" y="4197096"/>
            <a:ext cx="44988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442"/>
                </a:solidFill>
              </a:rPr>
              <a:t>Existe algum teste sem requisito associado?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34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Casos negativos e limites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7"/>
                </a:solidFill>
              </a:rPr>
              <a:t>A IA ajuda a explorar cenários — mas o escopo continua sendo funcional.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3337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54480"/>
            <a:ext cx="36576" cy="914400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682496"/>
            <a:ext cx="3081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442"/>
                </a:solidFill>
              </a:rPr>
              <a:t>Campo vazio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3337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1554480"/>
            <a:ext cx="36576" cy="914400"/>
          </a:xfrm>
          <a:prstGeom prst="rect">
            <a:avLst/>
          </a:prstGeom>
          <a:solidFill>
            <a:srgbClr val="F2A23A"/>
          </a:solidFill>
          <a:ln w="12700">
            <a:solidFill>
              <a:srgbClr val="F2A2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682496"/>
            <a:ext cx="3081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442"/>
                </a:solidFill>
              </a:rPr>
              <a:t>Usuário sem autorização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92440" y="1554480"/>
            <a:ext cx="3337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1554480"/>
            <a:ext cx="36576" cy="914400"/>
          </a:xfrm>
          <a:prstGeom prst="rect">
            <a:avLst/>
          </a:prstGeom>
          <a:solidFill>
            <a:srgbClr val="8764D8"/>
          </a:solidFill>
          <a:ln w="12700">
            <a:solidFill>
              <a:srgbClr val="876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1682496"/>
            <a:ext cx="3081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442"/>
                </a:solidFill>
              </a:rPr>
              <a:t>Estado incorreto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2788920"/>
            <a:ext cx="3337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788920"/>
            <a:ext cx="36576" cy="914400"/>
          </a:xfrm>
          <a:prstGeom prst="rect">
            <a:avLst/>
          </a:prstGeom>
          <a:solidFill>
            <a:srgbClr val="3A8DFF"/>
          </a:solidFill>
          <a:ln w="12700">
            <a:solidFill>
              <a:srgbClr val="3A8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916936"/>
            <a:ext cx="3081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442"/>
                </a:solidFill>
              </a:rPr>
              <a:t>Registro inexistente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89120" y="2788920"/>
            <a:ext cx="3337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2788920"/>
            <a:ext cx="36576" cy="914400"/>
          </a:xfrm>
          <a:prstGeom prst="rect">
            <a:avLst/>
          </a:prstGeom>
          <a:solidFill>
            <a:srgbClr val="39B56D"/>
          </a:solidFill>
          <a:ln w="12700">
            <a:solidFill>
              <a:srgbClr val="39B5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2916936"/>
            <a:ext cx="3081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442"/>
                </a:solidFill>
              </a:rPr>
              <a:t>Processo duplicado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92440" y="2788920"/>
            <a:ext cx="3337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2440" y="2788920"/>
            <a:ext cx="36576" cy="914400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7032" y="2916936"/>
            <a:ext cx="3081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442"/>
                </a:solidFill>
              </a:rPr>
              <a:t>Dependência indisponível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645920" y="4434840"/>
            <a:ext cx="8778240" cy="1051560"/>
          </a:xfrm>
          <a:prstGeom prst="roundRect">
            <a:avLst>
              <a:gd name="adj" fmla="val 4348"/>
            </a:avLst>
          </a:prstGeom>
          <a:solidFill>
            <a:srgbClr val="FFF5E8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4434840"/>
            <a:ext cx="36576" cy="1051560"/>
          </a:xfrm>
          <a:prstGeom prst="rect">
            <a:avLst/>
          </a:prstGeom>
          <a:solidFill>
            <a:srgbClr val="F2A23A"/>
          </a:solidFill>
          <a:ln w="12700">
            <a:solidFill>
              <a:srgbClr val="F2A2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10512" y="4562856"/>
            <a:ext cx="852220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442"/>
                </a:solidFill>
              </a:rPr>
              <a:t>Nem todo cenário tecnicamente possível é requisito do projeto.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43442"/>
                </a:solidFill>
              </a:rPr>
              <a:t>A IA sugere; o consultor decide o que é relevante e válido.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34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9 — Teste integrado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7"/>
                </a:solidFill>
              </a:rPr>
              <a:t>Validar o processo ponta a ponta, não apenas uma função isolada.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2057400"/>
            <a:ext cx="137160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A8D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12598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8DFF"/>
                </a:solidFill>
              </a:rPr>
              <a:t>Nota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783080" y="2212848"/>
            <a:ext cx="201168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039112" y="2057400"/>
            <a:ext cx="137160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2A2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39112" y="212598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A23A"/>
                </a:solidFill>
              </a:rPr>
              <a:t>Ordem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10712" y="2212848"/>
            <a:ext cx="201168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66744" y="2057400"/>
            <a:ext cx="137160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2A2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6744" y="212598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A23A"/>
                </a:solidFill>
              </a:rPr>
              <a:t>Planejamento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38344" y="2212848"/>
            <a:ext cx="201168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94376" y="2057400"/>
            <a:ext cx="137160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876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94376" y="212598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764D8"/>
                </a:solidFill>
              </a:rPr>
              <a:t>Reserva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665976" y="2212848"/>
            <a:ext cx="201168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22008" y="2057400"/>
            <a:ext cx="137160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876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22008" y="212598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764D8"/>
                </a:solidFill>
              </a:rPr>
              <a:t>Movimento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293608" y="2212848"/>
            <a:ext cx="201168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49640" y="2057400"/>
            <a:ext cx="137160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B5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9640" y="212598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9B56D"/>
                </a:solidFill>
              </a:rPr>
              <a:t>Confirmação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921240" y="2212848"/>
            <a:ext cx="201168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177272" y="2057400"/>
            <a:ext cx="137160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B5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77272" y="212598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9B56D"/>
                </a:solidFill>
              </a:rPr>
              <a:t>Encerramento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152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442"/>
                </a:solidFill>
              </a:rPr>
              <a:t>Um teste integrado considera: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3657600"/>
            <a:ext cx="33375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3657600"/>
            <a:ext cx="36576" cy="713232"/>
          </a:xfrm>
          <a:prstGeom prst="rect">
            <a:avLst/>
          </a:prstGeom>
          <a:solidFill>
            <a:srgbClr val="3A8DFF"/>
          </a:solidFill>
          <a:ln w="12700">
            <a:solidFill>
              <a:srgbClr val="3A8D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3785616"/>
            <a:ext cx="3081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442"/>
                </a:solidFill>
              </a:rPr>
              <a:t>Módulos — PM / MM / FI ...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0" y="3657600"/>
            <a:ext cx="33375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0" y="3657600"/>
            <a:ext cx="36576" cy="713232"/>
          </a:xfrm>
          <a:prstGeom prst="rect">
            <a:avLst/>
          </a:prstGeom>
          <a:solidFill>
            <a:srgbClr val="F2A23A"/>
          </a:solidFill>
          <a:ln w="12700">
            <a:solidFill>
              <a:srgbClr val="F2A2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53712" y="3785616"/>
            <a:ext cx="3081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442"/>
                </a:solidFill>
              </a:rPr>
              <a:t>Dados mestres — equipamento, material...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092440" y="3657600"/>
            <a:ext cx="33375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92440" y="3657600"/>
            <a:ext cx="36576" cy="713232"/>
          </a:xfrm>
          <a:prstGeom prst="rect">
            <a:avLst/>
          </a:prstGeom>
          <a:solidFill>
            <a:srgbClr val="8764D8"/>
          </a:solidFill>
          <a:ln w="12700">
            <a:solidFill>
              <a:srgbClr val="876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3785616"/>
            <a:ext cx="3081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442"/>
                </a:solidFill>
              </a:rPr>
              <a:t>Integrações — interfaces e APIs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5800" y="4617720"/>
            <a:ext cx="33375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4617720"/>
            <a:ext cx="36576" cy="713232"/>
          </a:xfrm>
          <a:prstGeom prst="rect">
            <a:avLst/>
          </a:prstGeom>
          <a:solidFill>
            <a:srgbClr val="39B56D"/>
          </a:solidFill>
          <a:ln w="12700">
            <a:solidFill>
              <a:srgbClr val="39B56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0392" y="4745736"/>
            <a:ext cx="3081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442"/>
                </a:solidFill>
              </a:rPr>
              <a:t>Documentos — ordem, reserva, material doc.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389120" y="4617720"/>
            <a:ext cx="33375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4617720"/>
            <a:ext cx="36576" cy="713232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53712" y="4745736"/>
            <a:ext cx="3081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442"/>
                </a:solidFill>
              </a:rPr>
              <a:t>Dependências — jobs, autorizações, sistemas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092440" y="4617720"/>
            <a:ext cx="33375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92440" y="4617720"/>
            <a:ext cx="36576" cy="713232"/>
          </a:xfrm>
          <a:prstGeom prst="rect">
            <a:avLst/>
          </a:prstGeom>
          <a:solidFill>
            <a:srgbClr val="39B56D"/>
          </a:solidFill>
          <a:ln w="12700">
            <a:solidFill>
              <a:srgbClr val="39B56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57032" y="4745736"/>
            <a:ext cx="3081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442"/>
                </a:solidFill>
              </a:rPr>
              <a:t>Resultado final — processo concluído corretamente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34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— Manutenção corretiva com consumo de material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77240" y="1453896"/>
            <a:ext cx="329184" cy="329184"/>
          </a:xfrm>
          <a:prstGeom prst="ellipse">
            <a:avLst/>
          </a:prstGeom>
          <a:solidFill>
            <a:srgbClr val="3A8D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3162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80160" y="1417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442"/>
                </a:solidFill>
              </a:rPr>
              <a:t>Criar nota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09160" y="14173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B87"/>
                </a:solidFill>
              </a:rPr>
              <a:t>Nota criada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0" y="14173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B87"/>
                </a:solidFill>
              </a:rPr>
              <a:t>Pré-condição e dados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2093976"/>
            <a:ext cx="329184" cy="329184"/>
          </a:xfrm>
          <a:prstGeom prst="ellipse">
            <a:avLst/>
          </a:prstGeom>
          <a:solidFill>
            <a:srgbClr val="3A8D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7170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280160" y="2057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442"/>
                </a:solidFill>
              </a:rPr>
              <a:t>Gerar ordem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09160" y="20574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B87"/>
                </a:solidFill>
              </a:rPr>
              <a:t>Ordem gerada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0" y="20574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B87"/>
                </a:solidFill>
              </a:rPr>
              <a:t>Validação do vínculo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2734056"/>
            <a:ext cx="329184" cy="329184"/>
          </a:xfrm>
          <a:prstGeom prst="ellipse">
            <a:avLst/>
          </a:prstGeom>
          <a:solidFill>
            <a:srgbClr val="3A8D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81178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280160" y="2697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442"/>
                </a:solidFill>
              </a:rPr>
              <a:t>Planejar operação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09160" y="2697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B87"/>
                </a:solidFill>
              </a:rPr>
              <a:t>Operações planejadas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0" y="26974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B87"/>
                </a:solidFill>
              </a:rPr>
              <a:t>Centro de trabalho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" y="3374136"/>
            <a:ext cx="329184" cy="329184"/>
          </a:xfrm>
          <a:prstGeom prst="ellipse">
            <a:avLst/>
          </a:prstGeom>
          <a:solidFill>
            <a:srgbClr val="8764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45186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280160" y="33375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442"/>
                </a:solidFill>
              </a:rPr>
              <a:t>Criar reserva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709160" y="33375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B87"/>
                </a:solidFill>
              </a:rPr>
              <a:t>Reserva criada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33375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B87"/>
                </a:solidFill>
              </a:rPr>
              <a:t>Material disponível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7240" y="4014216"/>
            <a:ext cx="329184" cy="329184"/>
          </a:xfrm>
          <a:prstGeom prst="ellipse">
            <a:avLst/>
          </a:prstGeom>
          <a:solidFill>
            <a:srgbClr val="8764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09194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280160" y="3977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442"/>
                </a:solidFill>
              </a:rPr>
              <a:t>Realizar saída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709160" y="3977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B87"/>
                </a:solidFill>
              </a:rPr>
              <a:t>Documento de material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0" y="39776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B87"/>
                </a:solidFill>
              </a:rPr>
              <a:t>Estoque e movimento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7240" y="4654296"/>
            <a:ext cx="329184" cy="329184"/>
          </a:xfrm>
          <a:prstGeom prst="ellipse">
            <a:avLst/>
          </a:prstGeom>
          <a:solidFill>
            <a:srgbClr val="39B5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73202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280160" y="4617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442"/>
                </a:solidFill>
              </a:rPr>
              <a:t>Confirmar operação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709160" y="46177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B87"/>
                </a:solidFill>
              </a:rPr>
              <a:t>Confirmação registrada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0" y="46177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B87"/>
                </a:solidFill>
              </a:rPr>
              <a:t>Horas / quantidade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77240" y="5294376"/>
            <a:ext cx="329184" cy="329184"/>
          </a:xfrm>
          <a:prstGeom prst="ellipse">
            <a:avLst/>
          </a:prstGeom>
          <a:solidFill>
            <a:srgbClr val="39B5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37210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280160" y="5257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442"/>
                </a:solidFill>
              </a:rPr>
              <a:t>Encerrar ordem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709160" y="52578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B87"/>
                </a:solidFill>
              </a:rPr>
              <a:t>Ordem encerrada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0" y="52578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B87"/>
                </a:solidFill>
              </a:rPr>
              <a:t>Status final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34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10 — IA como revisora de cobertura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7"/>
                </a:solidFill>
              </a:rPr>
              <a:t>Nem sempre a IA precisa criar; ela também pode revisar.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4892040" cy="1051560"/>
          </a:xfrm>
          <a:prstGeom prst="roundRect">
            <a:avLst>
              <a:gd name="adj" fmla="val 4348"/>
            </a:avLst>
          </a:prstGeom>
          <a:solidFill>
            <a:srgbClr val="EEF6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36576" cy="1051560"/>
          </a:xfrm>
          <a:prstGeom prst="rect">
            <a:avLst/>
          </a:prstGeom>
          <a:solidFill>
            <a:srgbClr val="3A8DFF"/>
          </a:solidFill>
          <a:ln w="12700">
            <a:solidFill>
              <a:srgbClr val="3A8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28216"/>
            <a:ext cx="463600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442"/>
                </a:solidFill>
              </a:rPr>
              <a:t>“Analise esta especificação e estes casos de teste e identifique requisitos sem cobertura.”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4892040" cy="1051560"/>
          </a:xfrm>
          <a:prstGeom prst="roundRect">
            <a:avLst>
              <a:gd name="adj" fmla="val 4348"/>
            </a:avLst>
          </a:prstGeom>
          <a:solidFill>
            <a:srgbClr val="FFF5E8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600200"/>
            <a:ext cx="36576" cy="1051560"/>
          </a:xfrm>
          <a:prstGeom prst="rect">
            <a:avLst/>
          </a:prstGeom>
          <a:solidFill>
            <a:srgbClr val="F2A23A"/>
          </a:solidFill>
          <a:ln w="12700">
            <a:solidFill>
              <a:srgbClr val="F2A2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728216"/>
            <a:ext cx="463600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442"/>
                </a:solidFill>
              </a:rPr>
              <a:t>“Identifique regras de negócio que não possuem cenário negativo.”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246120"/>
            <a:ext cx="4892040" cy="1051560"/>
          </a:xfrm>
          <a:prstGeom prst="roundRect">
            <a:avLst>
              <a:gd name="adj" fmla="val 4348"/>
            </a:avLst>
          </a:prstGeom>
          <a:solidFill>
            <a:srgbClr val="F4F0FC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246120"/>
            <a:ext cx="36576" cy="1051560"/>
          </a:xfrm>
          <a:prstGeom prst="rect">
            <a:avLst/>
          </a:prstGeom>
          <a:solidFill>
            <a:srgbClr val="8764D8"/>
          </a:solidFill>
          <a:ln w="12700">
            <a:solidFill>
              <a:srgbClr val="876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374136"/>
            <a:ext cx="463600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442"/>
                </a:solidFill>
              </a:rPr>
              <a:t>“Aponte casos de teste cujo resultado esperado não esteja sustentado pela EF.”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3246120"/>
            <a:ext cx="4892040" cy="1051560"/>
          </a:xfrm>
          <a:prstGeom prst="roundRect">
            <a:avLst>
              <a:gd name="adj" fmla="val 4348"/>
            </a:avLst>
          </a:prstGeom>
          <a:solidFill>
            <a:srgbClr val="EFF9F2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3246120"/>
            <a:ext cx="36576" cy="1051560"/>
          </a:xfrm>
          <a:prstGeom prst="rect">
            <a:avLst/>
          </a:prstGeom>
          <a:solidFill>
            <a:srgbClr val="39B56D"/>
          </a:solidFill>
          <a:ln w="12700">
            <a:solidFill>
              <a:srgbClr val="39B5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3374136"/>
            <a:ext cx="463600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442"/>
                </a:solidFill>
              </a:rPr>
              <a:t>“Liste inconsistências entre versão atual do requisito e testes existentes.”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50749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442"/>
                </a:solidFill>
              </a:rPr>
              <a:t>Revisão de cobertura pode gerar mais valor do que geração automática indiscriminada.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34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11 — Comparação de documentos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7"/>
                </a:solidFill>
              </a:rPr>
              <a:t>Encontrar apenas mudanças funcionais entre versões.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143000" y="2057400"/>
            <a:ext cx="192024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A8D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1259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8DFF"/>
                </a:solidFill>
              </a:rPr>
              <a:t>EF v1.0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886200" y="2057400"/>
            <a:ext cx="192024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876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86200" y="21259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764D8"/>
                </a:solidFill>
              </a:rPr>
              <a:t>EF v1.1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035040" y="2212848"/>
            <a:ext cx="960120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132320" y="2057400"/>
            <a:ext cx="224028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2A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212598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A23A"/>
                </a:solidFill>
              </a:rPr>
              <a:t>Comparação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88720" y="3657600"/>
            <a:ext cx="9326880" cy="1143000"/>
          </a:xfrm>
          <a:prstGeom prst="roundRect">
            <a:avLst>
              <a:gd name="adj" fmla="val 4000"/>
            </a:avLst>
          </a:prstGeom>
          <a:solidFill>
            <a:srgbClr val="EFF9F2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3657600"/>
            <a:ext cx="36576" cy="1143000"/>
          </a:xfrm>
          <a:prstGeom prst="rect">
            <a:avLst/>
          </a:prstGeom>
          <a:solidFill>
            <a:srgbClr val="39B56D"/>
          </a:solidFill>
          <a:ln w="12700">
            <a:solidFill>
              <a:srgbClr val="39B5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53312" y="3785616"/>
            <a:ext cx="907084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442"/>
                </a:solidFill>
              </a:rPr>
              <a:t>Saída esperada: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43442"/>
                </a:solidFill>
              </a:rPr>
              <a:t>• regra alterada  • novo campo  • nova exceção  • mudança de comportamento  • impacto nos testes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34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12 — Preparação para reunião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7"/>
                </a:solidFill>
              </a:rPr>
              <a:t>Transformar documentos e pendências em pauta objetiva.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87452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36576" cy="1188720"/>
          </a:xfrm>
          <a:prstGeom prst="rect">
            <a:avLst/>
          </a:prstGeom>
          <a:solidFill>
            <a:srgbClr val="3A8DFF"/>
          </a:solidFill>
          <a:ln w="12700">
            <a:solidFill>
              <a:srgbClr val="3A8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956816"/>
            <a:ext cx="16184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442"/>
                </a:solidFill>
              </a:rPr>
              <a:t>Situação atual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1828800"/>
            <a:ext cx="187452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1828800"/>
            <a:ext cx="36576" cy="1188720"/>
          </a:xfrm>
          <a:prstGeom prst="rect">
            <a:avLst/>
          </a:prstGeom>
          <a:solidFill>
            <a:srgbClr val="F2A23A"/>
          </a:solidFill>
          <a:ln w="12700">
            <a:solidFill>
              <a:srgbClr val="F2A2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82112" y="1956816"/>
            <a:ext cx="16184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442"/>
                </a:solidFill>
              </a:rPr>
              <a:t>Decisões pendentes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1828800"/>
            <a:ext cx="187452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1828800"/>
            <a:ext cx="36576" cy="1188720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76672" y="1956816"/>
            <a:ext cx="16184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442"/>
                </a:solidFill>
              </a:rPr>
              <a:t>Riscos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1828800"/>
            <a:ext cx="187452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1828800"/>
            <a:ext cx="36576" cy="1188720"/>
          </a:xfrm>
          <a:prstGeom prst="rect">
            <a:avLst/>
          </a:prstGeom>
          <a:solidFill>
            <a:srgbClr val="8764D8"/>
          </a:solidFill>
          <a:ln w="12700">
            <a:solidFill>
              <a:srgbClr val="876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71232" y="1956816"/>
            <a:ext cx="16184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442"/>
                </a:solidFill>
              </a:rPr>
              <a:t>Perguntas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0" y="1828800"/>
            <a:ext cx="187452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0" y="1828800"/>
            <a:ext cx="36576" cy="1188720"/>
          </a:xfrm>
          <a:prstGeom prst="rect">
            <a:avLst/>
          </a:prstGeom>
          <a:solidFill>
            <a:srgbClr val="39B56D"/>
          </a:solidFill>
          <a:ln w="12700">
            <a:solidFill>
              <a:srgbClr val="39B5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65792" y="1956816"/>
            <a:ext cx="16184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442"/>
                </a:solidFill>
              </a:rPr>
              <a:t>Próximas ações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554480" y="4069080"/>
            <a:ext cx="8869680" cy="960120"/>
          </a:xfrm>
          <a:prstGeom prst="roundRect">
            <a:avLst>
              <a:gd name="adj" fmla="val 4762"/>
            </a:avLst>
          </a:prstGeom>
          <a:solidFill>
            <a:srgbClr val="EEF6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54480" y="4069080"/>
            <a:ext cx="36576" cy="960120"/>
          </a:xfrm>
          <a:prstGeom prst="rect">
            <a:avLst/>
          </a:prstGeom>
          <a:solidFill>
            <a:srgbClr val="3A8DFF"/>
          </a:solidFill>
          <a:ln w="12700">
            <a:solidFill>
              <a:srgbClr val="3A8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19072" y="4197096"/>
            <a:ext cx="86136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442"/>
                </a:solidFill>
              </a:rPr>
              <a:t>Entrada possível: chamado + especificação + últimas atualizações + lista de pendências.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34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Depois da reunião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7"/>
                </a:solidFill>
              </a:rPr>
              <a:t>Uma mesma reunião pode gerar vários entregáveis.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10312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A8D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8026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8DFF"/>
                </a:solidFill>
              </a:rPr>
              <a:t>Anotações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971800" y="2167128"/>
            <a:ext cx="777240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840480" y="2011680"/>
            <a:ext cx="182880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876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208026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764D8"/>
                </a:solidFill>
              </a:rPr>
              <a:t>IA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0" y="1143000"/>
            <a:ext cx="41605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143000"/>
            <a:ext cx="36576" cy="621792"/>
          </a:xfrm>
          <a:prstGeom prst="rect">
            <a:avLst/>
          </a:prstGeom>
          <a:solidFill>
            <a:srgbClr val="3A8DFF"/>
          </a:solidFill>
          <a:ln w="12700">
            <a:solidFill>
              <a:srgbClr val="3A8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1271016"/>
            <a:ext cx="3904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442"/>
                </a:solidFill>
              </a:rPr>
              <a:t>Ata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0" y="2011680"/>
            <a:ext cx="41605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2011680"/>
            <a:ext cx="36576" cy="621792"/>
          </a:xfrm>
          <a:prstGeom prst="rect">
            <a:avLst/>
          </a:prstGeom>
          <a:solidFill>
            <a:srgbClr val="F2A23A"/>
          </a:solidFill>
          <a:ln w="12700">
            <a:solidFill>
              <a:srgbClr val="F2A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2139696"/>
            <a:ext cx="3904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442"/>
                </a:solidFill>
              </a:rPr>
              <a:t>E-mail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2880360"/>
            <a:ext cx="41605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2880360"/>
            <a:ext cx="36576" cy="621792"/>
          </a:xfrm>
          <a:prstGeom prst="rect">
            <a:avLst/>
          </a:prstGeom>
          <a:solidFill>
            <a:srgbClr val="8764D8"/>
          </a:solidFill>
          <a:ln w="12700">
            <a:solidFill>
              <a:srgbClr val="876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3008376"/>
            <a:ext cx="3904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442"/>
                </a:solidFill>
              </a:rPr>
              <a:t>Chamado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0" y="3749040"/>
            <a:ext cx="41605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749040"/>
            <a:ext cx="36576" cy="621792"/>
          </a:xfrm>
          <a:prstGeom prst="rect">
            <a:avLst/>
          </a:prstGeom>
          <a:solidFill>
            <a:srgbClr val="39B56D"/>
          </a:solidFill>
          <a:ln w="12700">
            <a:solidFill>
              <a:srgbClr val="39B5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3877056"/>
            <a:ext cx="3904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442"/>
                </a:solidFill>
              </a:rPr>
              <a:t>Tarefas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617720"/>
            <a:ext cx="41605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4617720"/>
            <a:ext cx="36576" cy="621792"/>
          </a:xfrm>
          <a:prstGeom prst="rect">
            <a:avLst/>
          </a:prstGeom>
          <a:solidFill>
            <a:srgbClr val="39B56D"/>
          </a:solidFill>
          <a:ln w="12700">
            <a:solidFill>
              <a:srgbClr val="39B5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65392" y="4745736"/>
            <a:ext cx="3904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442"/>
                </a:solidFill>
              </a:rPr>
              <a:t>EF atualizada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60120" y="3931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442"/>
                </a:solidFill>
              </a:rPr>
              <a:t>Transformação de informação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77240" y="44348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7B87"/>
                </a:solidFill>
              </a:rPr>
              <a:t>A mesma fonte pode ser adaptada para públicos e objetivos diferentes — sem perder consistência.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34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NÃO devemos fazer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7"/>
                </a:solidFill>
              </a:rPr>
              <a:t>Pedidos vagos criam espaço para respostas plausíveis e frágeis.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029200" cy="1234440"/>
          </a:xfrm>
          <a:prstGeom prst="roundRect">
            <a:avLst>
              <a:gd name="adj" fmla="val 3704"/>
            </a:avLst>
          </a:prstGeom>
          <a:solidFill>
            <a:srgbClr val="FFF0F0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36576" cy="1234440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636776"/>
            <a:ext cx="477316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442"/>
                </a:solidFill>
              </a:rPr>
              <a:t>“Descubra a causa desse erro SAP.”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43442"/>
                </a:solidFill>
              </a:rPr>
              <a:t>Sem logs ou evidências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5029200" cy="1234440"/>
          </a:xfrm>
          <a:prstGeom prst="roundRect">
            <a:avLst>
              <a:gd name="adj" fmla="val 3704"/>
            </a:avLst>
          </a:prstGeom>
          <a:solidFill>
            <a:srgbClr val="FFF0F0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508760"/>
            <a:ext cx="36576" cy="1234440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6792" y="1636776"/>
            <a:ext cx="477316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442"/>
                </a:solidFill>
              </a:rPr>
              <a:t>“Crie a solução técnica completa.”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43442"/>
                </a:solidFill>
              </a:rPr>
              <a:t>Sem arquitetura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154680"/>
            <a:ext cx="5029200" cy="1234440"/>
          </a:xfrm>
          <a:prstGeom prst="roundRect">
            <a:avLst>
              <a:gd name="adj" fmla="val 3704"/>
            </a:avLst>
          </a:prstGeom>
          <a:solidFill>
            <a:srgbClr val="FFF0F0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154680"/>
            <a:ext cx="36576" cy="1234440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282696"/>
            <a:ext cx="477316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442"/>
                </a:solidFill>
              </a:rPr>
              <a:t>“Faça uma especificação funcional.”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43442"/>
                </a:solidFill>
              </a:rPr>
              <a:t>Sem requisitos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154680"/>
            <a:ext cx="5029200" cy="1234440"/>
          </a:xfrm>
          <a:prstGeom prst="roundRect">
            <a:avLst>
              <a:gd name="adj" fmla="val 3704"/>
            </a:avLst>
          </a:prstGeom>
          <a:solidFill>
            <a:srgbClr val="FFF0F0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3154680"/>
            <a:ext cx="36576" cy="1234440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3282696"/>
            <a:ext cx="477316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442"/>
                </a:solidFill>
              </a:rPr>
              <a:t>“Gere todos os testes possíveis.”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43442"/>
                </a:solidFill>
              </a:rPr>
              <a:t>Sem escopo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011680" y="52578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442"/>
                </a:solidFill>
              </a:rPr>
              <a:t>Problema comum: ausência de contexto, evidência e limites.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34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Fluxo ideal do consultor com IA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78308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A8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97380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8DFF"/>
                </a:solidFill>
              </a:rPr>
              <a:t>Demanda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331720" y="1984248"/>
            <a:ext cx="384048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788920" y="1828800"/>
            <a:ext cx="178308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A8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1897380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8DFF"/>
                </a:solidFill>
              </a:rPr>
              <a:t>Evidências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0" y="1984248"/>
            <a:ext cx="384048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0" y="1828800"/>
            <a:ext cx="178308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2A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897380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A23A"/>
                </a:solidFill>
              </a:rPr>
              <a:t>IA analisa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12280" y="1984248"/>
            <a:ext cx="384048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269480" y="1828800"/>
            <a:ext cx="178308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2A2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1897380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A23A"/>
                </a:solidFill>
              </a:rPr>
              <a:t>Consultor valida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052560" y="1984248"/>
            <a:ext cx="384048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509760" y="1828800"/>
            <a:ext cx="178308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876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0" y="1897380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764D8"/>
                </a:solidFill>
              </a:rPr>
              <a:t>IA estrutura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214884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876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5478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764D8"/>
                </a:solidFill>
              </a:rPr>
              <a:t>Consultor revisa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97480" y="4041648"/>
            <a:ext cx="384048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246120" y="3886200"/>
            <a:ext cx="214884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B5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395478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9B56D"/>
                </a:solidFill>
              </a:rPr>
              <a:t>IA gera testes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94960" y="4041648"/>
            <a:ext cx="384048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943600" y="3886200"/>
            <a:ext cx="214884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B5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395478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9B56D"/>
                </a:solidFill>
              </a:rPr>
              <a:t>Consultor valida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092440" y="4041648"/>
            <a:ext cx="384048" cy="0"/>
          </a:xfrm>
          <a:prstGeom prst="line">
            <a:avLst/>
          </a:prstGeom>
          <a:noFill/>
          <a:ln w="1905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641080" y="3886200"/>
            <a:ext cx="214884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9B5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41080" y="395478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9B56D"/>
                </a:solidFill>
              </a:rPr>
              <a:t>Entrega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103120" y="54864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442"/>
                </a:solidFill>
              </a:rPr>
              <a:t>O especialista permanece no circuito em todos os pontos críticos.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34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Exercício principal — 15 a 20 minutos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7"/>
                </a:solidFill>
              </a:rPr>
              <a:t>Trabalhar o cenário do início ao fim.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33375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36576" cy="960120"/>
          </a:xfrm>
          <a:prstGeom prst="rect">
            <a:avLst/>
          </a:prstGeom>
          <a:solidFill>
            <a:srgbClr val="3A8DFF"/>
          </a:solidFill>
          <a:ln w="12700">
            <a:solidFill>
              <a:srgbClr val="3A8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28216"/>
            <a:ext cx="30815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442"/>
                </a:solidFill>
              </a:rPr>
              <a:t>1. Analisar o requisito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1600200"/>
            <a:ext cx="33375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34840" y="1600200"/>
            <a:ext cx="36576" cy="960120"/>
          </a:xfrm>
          <a:prstGeom prst="rect">
            <a:avLst/>
          </a:prstGeom>
          <a:solidFill>
            <a:srgbClr val="F2A23A"/>
          </a:solidFill>
          <a:ln w="12700">
            <a:solidFill>
              <a:srgbClr val="F2A2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728216"/>
            <a:ext cx="30815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442"/>
                </a:solidFill>
              </a:rPr>
              <a:t>2. Identificar lacunas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3375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1600200"/>
            <a:ext cx="36576" cy="960120"/>
          </a:xfrm>
          <a:prstGeom prst="rect">
            <a:avLst/>
          </a:prstGeom>
          <a:solidFill>
            <a:srgbClr val="F2A23A"/>
          </a:solidFill>
          <a:ln w="12700">
            <a:solidFill>
              <a:srgbClr val="F2A2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2752" y="1728216"/>
            <a:ext cx="30815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442"/>
                </a:solidFill>
              </a:rPr>
              <a:t>3. Gerar perguntas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971800"/>
            <a:ext cx="33375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971800"/>
            <a:ext cx="36576" cy="960120"/>
          </a:xfrm>
          <a:prstGeom prst="rect">
            <a:avLst/>
          </a:prstGeom>
          <a:solidFill>
            <a:srgbClr val="8764D8"/>
          </a:solidFill>
          <a:ln w="12700">
            <a:solidFill>
              <a:srgbClr val="876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099816"/>
            <a:ext cx="30815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442"/>
                </a:solidFill>
              </a:rPr>
              <a:t>4. Estruturar requisitos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34840" y="2971800"/>
            <a:ext cx="33375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0" y="2971800"/>
            <a:ext cx="36576" cy="960120"/>
          </a:xfrm>
          <a:prstGeom prst="rect">
            <a:avLst/>
          </a:prstGeom>
          <a:solidFill>
            <a:srgbClr val="8764D8"/>
          </a:solidFill>
          <a:ln w="12700">
            <a:solidFill>
              <a:srgbClr val="876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9432" y="3099816"/>
            <a:ext cx="30815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442"/>
                </a:solidFill>
              </a:rPr>
              <a:t>5. Gerar EF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2971800"/>
            <a:ext cx="33375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2971800"/>
            <a:ext cx="36576" cy="960120"/>
          </a:xfrm>
          <a:prstGeom prst="rect">
            <a:avLst/>
          </a:prstGeom>
          <a:solidFill>
            <a:srgbClr val="39B56D"/>
          </a:solidFill>
          <a:ln w="12700">
            <a:solidFill>
              <a:srgbClr val="39B5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02752" y="3099816"/>
            <a:ext cx="30815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442"/>
                </a:solidFill>
              </a:rPr>
              <a:t>6. Gerar casos de teste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188720" y="4572000"/>
            <a:ext cx="9601200" cy="914400"/>
          </a:xfrm>
          <a:prstGeom prst="roundRect">
            <a:avLst>
              <a:gd name="adj" fmla="val 5000"/>
            </a:avLst>
          </a:prstGeom>
          <a:solidFill>
            <a:srgbClr val="EFF9F2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88720" y="4572000"/>
            <a:ext cx="36576" cy="914400"/>
          </a:xfrm>
          <a:prstGeom prst="rect">
            <a:avLst/>
          </a:prstGeom>
          <a:solidFill>
            <a:srgbClr val="39B56D"/>
          </a:solidFill>
          <a:ln w="12700">
            <a:solidFill>
              <a:srgbClr val="39B5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53312" y="4700016"/>
            <a:ext cx="9345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442"/>
                </a:solidFill>
              </a:rPr>
              <a:t>Use os prompts aprovados. Registre pendências. Não complete lacunas por conta própria.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34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Mudança de requisito — desafio adicional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1005840" y="1508760"/>
            <a:ext cx="10058400" cy="1234440"/>
          </a:xfrm>
          <a:prstGeom prst="roundRect">
            <a:avLst>
              <a:gd name="adj" fmla="val 3704"/>
            </a:avLst>
          </a:prstGeom>
          <a:solidFill>
            <a:srgbClr val="FFF5E8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508760"/>
            <a:ext cx="36576" cy="1234440"/>
          </a:xfrm>
          <a:prstGeom prst="rect">
            <a:avLst/>
          </a:prstGeom>
          <a:solidFill>
            <a:srgbClr val="F2A23A"/>
          </a:solidFill>
          <a:ln w="12700">
            <a:solidFill>
              <a:srgbClr val="F2A2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0432" y="1636776"/>
            <a:ext cx="980236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442"/>
                </a:solidFill>
              </a:rPr>
              <a:t>“Agora o usuário informou que ordens emergenciais devem ser exceção e podem ser liberadas sem responsável.”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442"/>
                </a:solidFill>
              </a:rPr>
              <a:t>O que muda?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794760"/>
            <a:ext cx="18745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794760"/>
            <a:ext cx="36576" cy="914400"/>
          </a:xfrm>
          <a:prstGeom prst="rect">
            <a:avLst/>
          </a:prstGeom>
          <a:solidFill>
            <a:srgbClr val="3A8DFF"/>
          </a:solidFill>
          <a:ln w="12700">
            <a:solidFill>
              <a:srgbClr val="3A8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3922776"/>
            <a:ext cx="1618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3442"/>
                </a:solidFill>
              </a:rPr>
              <a:t>Regra de negócio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26080" y="3794760"/>
            <a:ext cx="18745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3794760"/>
            <a:ext cx="36576" cy="914400"/>
          </a:xfrm>
          <a:prstGeom prst="rect">
            <a:avLst/>
          </a:prstGeom>
          <a:solidFill>
            <a:srgbClr val="F2A23A"/>
          </a:solidFill>
          <a:ln w="12700">
            <a:solidFill>
              <a:srgbClr val="F2A2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3922776"/>
            <a:ext cx="1618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3442"/>
                </a:solidFill>
              </a:rPr>
              <a:t>Definição de emergência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20640" y="3794760"/>
            <a:ext cx="18745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0" y="3794760"/>
            <a:ext cx="36576" cy="914400"/>
          </a:xfrm>
          <a:prstGeom prst="rect">
            <a:avLst/>
          </a:prstGeom>
          <a:solidFill>
            <a:srgbClr val="8764D8"/>
          </a:solidFill>
          <a:ln w="12700">
            <a:solidFill>
              <a:srgbClr val="876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3922776"/>
            <a:ext cx="1618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3442"/>
                </a:solidFill>
              </a:rPr>
              <a:t>Especificação funcional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0" y="3794760"/>
            <a:ext cx="18745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3794760"/>
            <a:ext cx="36576" cy="914400"/>
          </a:xfrm>
          <a:prstGeom prst="rect">
            <a:avLst/>
          </a:prstGeom>
          <a:solidFill>
            <a:srgbClr val="39B56D"/>
          </a:solidFill>
          <a:ln w="12700">
            <a:solidFill>
              <a:srgbClr val="39B5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9792" y="3922776"/>
            <a:ext cx="1618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3442"/>
                </a:solidFill>
              </a:rPr>
              <a:t>Casos de teste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509760" y="3794760"/>
            <a:ext cx="18745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9760" y="3794760"/>
            <a:ext cx="36576" cy="914400"/>
          </a:xfrm>
          <a:prstGeom prst="rect">
            <a:avLst/>
          </a:prstGeom>
          <a:solidFill>
            <a:srgbClr val="39B56D"/>
          </a:solidFill>
          <a:ln w="12700">
            <a:solidFill>
              <a:srgbClr val="39B5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74352" y="3922776"/>
            <a:ext cx="1618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3442"/>
                </a:solidFill>
              </a:rPr>
              <a:t>Rastreabilidade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97280" y="52578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442"/>
                </a:solidFill>
              </a:rPr>
              <a:t>Mudança controlada de requisito deve propagar impacto para documentos e testes.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434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Material de apoio do módulo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7"/>
                </a:solidFill>
              </a:rPr>
              <a:t>Arquivos e artefatos recomendados para as demonstrações e exercícios.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5120640" cy="4160520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36576" cy="4160520"/>
          </a:xfrm>
          <a:prstGeom prst="rect">
            <a:avLst/>
          </a:prstGeom>
          <a:solidFill>
            <a:srgbClr val="3A8DFF"/>
          </a:solidFill>
          <a:ln w="12700">
            <a:solidFill>
              <a:srgbClr val="3A8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36776"/>
            <a:ext cx="4864608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3442"/>
                </a:solidFill>
              </a:rPr>
              <a:t>Prompts e cenário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4663440" cy="2651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43442"/>
                </a:solidFill>
              </a:rPr>
              <a:t>Cenário SAP PM em 1 página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43442"/>
                </a:solidFill>
              </a:rPr>
              <a:t>PROMPT-MASTER-001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43442"/>
                </a:solidFill>
              </a:rPr>
              <a:t>PROMPT-EMAIL-001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43442"/>
                </a:solidFill>
              </a:rPr>
              <a:t>PROMPT-CHAMADO-001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43442"/>
                </a:solidFill>
              </a:rPr>
              <a:t>PROMPT-APONT-001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120640" cy="4160520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0160">
            <a:solidFill>
              <a:srgbClr val="D8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508760"/>
            <a:ext cx="36576" cy="4160520"/>
          </a:xfrm>
          <a:prstGeom prst="rect">
            <a:avLst/>
          </a:prstGeom>
          <a:solidFill>
            <a:srgbClr val="39B56D"/>
          </a:solidFill>
          <a:ln w="12700">
            <a:solidFill>
              <a:srgbClr val="39B5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636776"/>
            <a:ext cx="4864608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3442"/>
                </a:solidFill>
              </a:rPr>
              <a:t>Templates e validação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240280"/>
            <a:ext cx="4572000" cy="2651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43442"/>
                </a:solidFill>
              </a:rPr>
              <a:t>PROMPT-EF-001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43442"/>
                </a:solidFill>
              </a:rPr>
              <a:t>Template de Especificação Funcional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43442"/>
                </a:solidFill>
              </a:rPr>
              <a:t>EF de exemplo preenchida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43442"/>
                </a:solidFill>
              </a:rPr>
              <a:t>Template de casos de teste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43442"/>
                </a:solidFill>
              </a:rPr>
              <a:t>Checklist de validação / rastreabilidade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F33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430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IA não substitui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processo de consultoria.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31520" y="24231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E4EE"/>
                </a:solidFill>
              </a:rPr>
              <a:t>Ela reduz o esforço mecânico dentro dele.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0" y="1097280"/>
            <a:ext cx="2743200" cy="1051560"/>
          </a:xfrm>
          <a:prstGeom prst="roundRect">
            <a:avLst/>
          </a:prstGeom>
          <a:solidFill>
            <a:srgbClr val="29465B"/>
          </a:solidFill>
          <a:ln w="10160">
            <a:solidFill>
              <a:srgbClr val="3D5E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26680" y="12618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A8DFF"/>
                </a:solidFill>
              </a:rPr>
              <a:t>ANTES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41080" y="12070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Análise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Perguntas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Pesquisa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589520" y="2560320"/>
            <a:ext cx="2743200" cy="1051560"/>
          </a:xfrm>
          <a:prstGeom prst="roundRect">
            <a:avLst/>
          </a:prstGeom>
          <a:solidFill>
            <a:srgbClr val="29465B"/>
          </a:solidFill>
          <a:ln w="10160">
            <a:solidFill>
              <a:srgbClr val="3D5E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26680" y="27249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764D8"/>
                </a:solidFill>
              </a:rPr>
              <a:t>DURANTE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41080" y="26700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Documentação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Organização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Comparação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589520" y="4023360"/>
            <a:ext cx="2743200" cy="1051560"/>
          </a:xfrm>
          <a:prstGeom prst="roundRect">
            <a:avLst/>
          </a:prstGeom>
          <a:solidFill>
            <a:srgbClr val="29465B"/>
          </a:solidFill>
          <a:ln w="10160">
            <a:solidFill>
              <a:srgbClr val="3D5E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26680" y="4187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9B56D"/>
                </a:solidFill>
              </a:rPr>
              <a:t>DEPOIS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641080" y="41330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Testes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Revisão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Comunicação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56235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2C2"/>
                </a:solidFill>
              </a:rPr>
              <a:t>Próximo módulo: Padronização corporativa e governança de IA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Treinamento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4 — Casos Práticos de IA na Consultoria SAP</dc:title>
  <dc:subject>Treinamento IA Generativa aplicada à Consultoria SAP - Módulo 4</dc:subject>
  <dc:creator>OpenAI</dc:creator>
  <cp:lastModifiedBy>OpenAI</cp:lastModifiedBy>
  <cp:revision>1</cp:revision>
  <dcterms:created xsi:type="dcterms:W3CDTF">2026-10-17T22:24:20Z</dcterms:created>
  <dcterms:modified xsi:type="dcterms:W3CDTF">2026-10-17T22:24:20Z</dcterms:modified>
</cp:coreProperties>
</file>